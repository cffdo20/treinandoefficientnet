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B0802030000000004"/>
      <p:regular r:id="rId18"/>
    </p:embeddedFont>
    <p:embeddedFont>
      <p:font typeface="Inter" charset="1" panose="020B050203000000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doi.org/10.48550/arXiv.2104.00298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58087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8695" y="2328991"/>
            <a:ext cx="960178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79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EfficientNetV2-B0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695" y="5057247"/>
            <a:ext cx="636349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Cristian Franklin Feitoza de Oliveira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George Anderson Batista Valente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Harley Leite Silva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José Diogo Dutra Pacheco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1527835"/>
            <a:ext cx="11514164" cy="8759165"/>
            <a:chOff x="0" y="0"/>
            <a:chExt cx="15352218" cy="116788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5352218" cy="1055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Definição</a:t>
              </a:r>
            </a:p>
            <a:p>
              <a:pPr algn="l">
                <a:lnSpc>
                  <a:spcPts val="5999"/>
                </a:lnSpc>
              </a:pPr>
            </a:p>
            <a:p>
              <a:pPr algn="just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 EfficientNet é uma </a:t>
              </a:r>
              <a:r>
                <a:rPr lang="en-US" sz="30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família de arquiteturas de redes neurais convolucionais</a:t>
              </a: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que foram projetas para serem altamente eficientes em termos de consumos de recursos computacionais. Além de ser um </a:t>
              </a:r>
              <a:r>
                <a:rPr lang="en-US" sz="30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método de escalar modelos</a:t>
              </a: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forma mais eficiente.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873706"/>
              <a:ext cx="15352218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38004" y="1307857"/>
            <a:ext cx="802628" cy="783657"/>
          </a:xfrm>
          <a:custGeom>
            <a:avLst/>
            <a:gdLst/>
            <a:ahLst/>
            <a:cxnLst/>
            <a:rect r="r" b="b" t="t" l="l"/>
            <a:pathLst>
              <a:path h="783657" w="802628">
                <a:moveTo>
                  <a:pt x="0" y="0"/>
                </a:moveTo>
                <a:lnTo>
                  <a:pt x="802628" y="0"/>
                </a:lnTo>
                <a:lnTo>
                  <a:pt x="802628" y="783657"/>
                </a:lnTo>
                <a:lnTo>
                  <a:pt x="0" y="783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97210" y="865722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1699685"/>
            <a:ext cx="11514164" cy="7812379"/>
            <a:chOff x="0" y="0"/>
            <a:chExt cx="15352218" cy="10416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5352218" cy="9291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Origem</a:t>
              </a:r>
            </a:p>
            <a:p>
              <a:pPr algn="l">
                <a:lnSpc>
                  <a:spcPts val="4200"/>
                </a:lnSpc>
              </a:pPr>
            </a:p>
            <a:p>
              <a:pPr algn="l" marL="647703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Proposta por: Mingxing Tan e Quoc V.Le. 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3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Ano: 2019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3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Artigo: EfficientNet: Rethinking Model Scaling for Convolutional Neural Networks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611326"/>
              <a:ext cx="15352218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106099" y="1547752"/>
            <a:ext cx="734910" cy="942193"/>
          </a:xfrm>
          <a:custGeom>
            <a:avLst/>
            <a:gdLst/>
            <a:ahLst/>
            <a:cxnLst/>
            <a:rect r="r" b="b" t="t" l="l"/>
            <a:pathLst>
              <a:path h="942193" w="734910">
                <a:moveTo>
                  <a:pt x="0" y="0"/>
                </a:moveTo>
                <a:lnTo>
                  <a:pt x="734911" y="0"/>
                </a:lnTo>
                <a:lnTo>
                  <a:pt x="734911" y="942193"/>
                </a:lnTo>
                <a:lnTo>
                  <a:pt x="0" y="94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27059" y="8856945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8781" y="37360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1"/>
                </a:lnTo>
                <a:lnTo>
                  <a:pt x="0" y="1341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1715576"/>
            <a:ext cx="11514164" cy="9403054"/>
            <a:chOff x="0" y="0"/>
            <a:chExt cx="15352218" cy="125374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5352218" cy="11412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Objetivo</a:t>
              </a:r>
            </a:p>
            <a:p>
              <a:pPr algn="just">
                <a:lnSpc>
                  <a:spcPts val="5999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Otimizar o escalamento de redes neurais. 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Ao contrário da prática convencional, que arbitrariamente escalava profundidade, largura e resolução, o EfficientNet escala esses fatores uniformemente com Compound Coefficient.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Garantir melhor uso de recursos computacionais, e melhor acurácia.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732226"/>
              <a:ext cx="15352218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473555" y="1567656"/>
            <a:ext cx="914018" cy="902385"/>
          </a:xfrm>
          <a:custGeom>
            <a:avLst/>
            <a:gdLst/>
            <a:ahLst/>
            <a:cxnLst/>
            <a:rect r="r" b="b" t="t" l="l"/>
            <a:pathLst>
              <a:path h="902385" w="914018">
                <a:moveTo>
                  <a:pt x="0" y="0"/>
                </a:moveTo>
                <a:lnTo>
                  <a:pt x="914018" y="0"/>
                </a:lnTo>
                <a:lnTo>
                  <a:pt x="914018" y="902386"/>
                </a:lnTo>
                <a:lnTo>
                  <a:pt x="0" y="90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27059" y="8856945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8781" y="37360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1"/>
                </a:lnTo>
                <a:lnTo>
                  <a:pt x="0" y="1341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1564297"/>
            <a:ext cx="11514164" cy="10941659"/>
            <a:chOff x="0" y="0"/>
            <a:chExt cx="15352218" cy="1458887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5352218" cy="13463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EfficientNetV2-B0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Modelo básico (baseline) da Segunda Geração da família EfficientNet. Surgiu em 2021.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Mais rápido e leve que os modelos da geração anterior, como EfficientNetB0.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Ideal para dispositivos menores com menos recursos computacionais.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Além do compound scalling, utiliza técnicas como Fused MBConv e Treinamento Progressivo para melhorar acurácia enquanto usa menos recursos.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3783699"/>
              <a:ext cx="15352218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781" y="37360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1"/>
                </a:lnTo>
                <a:lnTo>
                  <a:pt x="0" y="1341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8781" y="2018849"/>
            <a:ext cx="13999241" cy="6969099"/>
            <a:chOff x="0" y="0"/>
            <a:chExt cx="18665654" cy="929213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8665654" cy="8166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Informações adicionais</a:t>
              </a:r>
            </a:p>
            <a:p>
              <a:pPr algn="just">
                <a:lnSpc>
                  <a:spcPts val="5999"/>
                </a:lnSpc>
              </a:pPr>
            </a:p>
            <a:p>
              <a:pPr algn="l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Número de camadas: 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200/300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5" indent="-323852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Informações do dispositivo: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Samsung SM-M526B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486953"/>
              <a:ext cx="18665654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12363" y="-1648695"/>
            <a:ext cx="14997607" cy="12987998"/>
            <a:chOff x="0" y="0"/>
            <a:chExt cx="3619627" cy="31346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85127" y="2789913"/>
            <a:ext cx="8852261" cy="4820425"/>
            <a:chOff x="0" y="0"/>
            <a:chExt cx="149263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2631" cy="812800"/>
            </a:xfrm>
            <a:custGeom>
              <a:avLst/>
              <a:gdLst/>
              <a:ahLst/>
              <a:cxnLst/>
              <a:rect r="r" b="b" t="t" l="l"/>
              <a:pathLst>
                <a:path h="812800" w="1492631">
                  <a:moveTo>
                    <a:pt x="20115" y="0"/>
                  </a:moveTo>
                  <a:lnTo>
                    <a:pt x="1472516" y="0"/>
                  </a:lnTo>
                  <a:cubicBezTo>
                    <a:pt x="1477851" y="0"/>
                    <a:pt x="1482968" y="2119"/>
                    <a:pt x="1486740" y="5892"/>
                  </a:cubicBezTo>
                  <a:cubicBezTo>
                    <a:pt x="1490512" y="9664"/>
                    <a:pt x="1492631" y="14780"/>
                    <a:pt x="1492631" y="20115"/>
                  </a:cubicBezTo>
                  <a:lnTo>
                    <a:pt x="1492631" y="792685"/>
                  </a:lnTo>
                  <a:cubicBezTo>
                    <a:pt x="1492631" y="803794"/>
                    <a:pt x="1483626" y="812800"/>
                    <a:pt x="1472516" y="812800"/>
                  </a:cubicBezTo>
                  <a:lnTo>
                    <a:pt x="20115" y="812800"/>
                  </a:lnTo>
                  <a:cubicBezTo>
                    <a:pt x="9006" y="812800"/>
                    <a:pt x="0" y="803794"/>
                    <a:pt x="0" y="792685"/>
                  </a:cubicBezTo>
                  <a:lnTo>
                    <a:pt x="0" y="20115"/>
                  </a:lnTo>
                  <a:cubicBezTo>
                    <a:pt x="0" y="9006"/>
                    <a:pt x="9006" y="0"/>
                    <a:pt x="2011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268" r="0" b="-326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0" y="1942649"/>
            <a:ext cx="284241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Parâmetros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4212" y="7922126"/>
            <a:ext cx="4970154" cy="4304177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36612" y="-616544"/>
            <a:ext cx="3799619" cy="3290488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8781" y="1557091"/>
            <a:ext cx="13999241" cy="1520165"/>
            <a:chOff x="0" y="0"/>
            <a:chExt cx="18665654" cy="202688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8665654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Estrutura de Diretórios do Datasets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21706"/>
              <a:ext cx="18665654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75942" y="2512665"/>
            <a:ext cx="3846775" cy="6884353"/>
            <a:chOff x="0" y="0"/>
            <a:chExt cx="480610" cy="860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610" cy="860120"/>
            </a:xfrm>
            <a:custGeom>
              <a:avLst/>
              <a:gdLst/>
              <a:ahLst/>
              <a:cxnLst/>
              <a:rect r="r" b="b" t="t" l="l"/>
              <a:pathLst>
                <a:path h="860120" w="480610">
                  <a:moveTo>
                    <a:pt x="46289" y="0"/>
                  </a:moveTo>
                  <a:lnTo>
                    <a:pt x="434321" y="0"/>
                  </a:lnTo>
                  <a:cubicBezTo>
                    <a:pt x="459885" y="0"/>
                    <a:pt x="480610" y="20724"/>
                    <a:pt x="480610" y="46289"/>
                  </a:cubicBezTo>
                  <a:lnTo>
                    <a:pt x="480610" y="813831"/>
                  </a:lnTo>
                  <a:cubicBezTo>
                    <a:pt x="480610" y="826107"/>
                    <a:pt x="475733" y="837881"/>
                    <a:pt x="467052" y="846562"/>
                  </a:cubicBezTo>
                  <a:cubicBezTo>
                    <a:pt x="458371" y="855243"/>
                    <a:pt x="446597" y="860120"/>
                    <a:pt x="434321" y="860120"/>
                  </a:cubicBezTo>
                  <a:lnTo>
                    <a:pt x="46289" y="860120"/>
                  </a:lnTo>
                  <a:cubicBezTo>
                    <a:pt x="20724" y="860120"/>
                    <a:pt x="0" y="839395"/>
                    <a:pt x="0" y="813831"/>
                  </a:cubicBezTo>
                  <a:lnTo>
                    <a:pt x="0" y="46289"/>
                  </a:lnTo>
                  <a:cubicBezTo>
                    <a:pt x="0" y="34013"/>
                    <a:pt x="4877" y="22239"/>
                    <a:pt x="13558" y="13558"/>
                  </a:cubicBezTo>
                  <a:cubicBezTo>
                    <a:pt x="22239" y="4877"/>
                    <a:pt x="34013" y="0"/>
                    <a:pt x="46289" y="0"/>
                  </a:cubicBezTo>
                  <a:close/>
                </a:path>
              </a:pathLst>
            </a:custGeom>
            <a:blipFill>
              <a:blip r:embed="rId3"/>
              <a:stretch>
                <a:fillRect l="-5216" t="0" r="-5216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636459" y="2512665"/>
            <a:ext cx="3432987" cy="6884353"/>
            <a:chOff x="0" y="0"/>
            <a:chExt cx="428912" cy="860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8912" cy="860120"/>
            </a:xfrm>
            <a:custGeom>
              <a:avLst/>
              <a:gdLst/>
              <a:ahLst/>
              <a:cxnLst/>
              <a:rect r="r" b="b" t="t" l="l"/>
              <a:pathLst>
                <a:path h="860120" w="428912">
                  <a:moveTo>
                    <a:pt x="51869" y="0"/>
                  </a:moveTo>
                  <a:lnTo>
                    <a:pt x="377043" y="0"/>
                  </a:lnTo>
                  <a:cubicBezTo>
                    <a:pt x="390800" y="0"/>
                    <a:pt x="403993" y="5465"/>
                    <a:pt x="413720" y="15192"/>
                  </a:cubicBezTo>
                  <a:cubicBezTo>
                    <a:pt x="423447" y="24919"/>
                    <a:pt x="428912" y="38112"/>
                    <a:pt x="428912" y="51869"/>
                  </a:cubicBezTo>
                  <a:lnTo>
                    <a:pt x="428912" y="808251"/>
                  </a:lnTo>
                  <a:cubicBezTo>
                    <a:pt x="428912" y="822008"/>
                    <a:pt x="423447" y="835201"/>
                    <a:pt x="413720" y="844928"/>
                  </a:cubicBezTo>
                  <a:cubicBezTo>
                    <a:pt x="403993" y="854655"/>
                    <a:pt x="390800" y="860120"/>
                    <a:pt x="377043" y="860120"/>
                  </a:cubicBezTo>
                  <a:lnTo>
                    <a:pt x="51869" y="860120"/>
                  </a:lnTo>
                  <a:cubicBezTo>
                    <a:pt x="23222" y="860120"/>
                    <a:pt x="0" y="836897"/>
                    <a:pt x="0" y="808251"/>
                  </a:cubicBezTo>
                  <a:lnTo>
                    <a:pt x="0" y="51869"/>
                  </a:lnTo>
                  <a:cubicBezTo>
                    <a:pt x="0" y="23222"/>
                    <a:pt x="23222" y="0"/>
                    <a:pt x="51869" y="0"/>
                  </a:cubicBezTo>
                  <a:close/>
                </a:path>
              </a:pathLst>
            </a:custGeom>
            <a:blipFill>
              <a:blip r:embed="rId4"/>
              <a:stretch>
                <a:fillRect l="-3259" t="0" r="-3259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79071" y="2512665"/>
            <a:ext cx="3432987" cy="6884353"/>
            <a:chOff x="0" y="0"/>
            <a:chExt cx="428912" cy="860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8912" cy="860120"/>
            </a:xfrm>
            <a:custGeom>
              <a:avLst/>
              <a:gdLst/>
              <a:ahLst/>
              <a:cxnLst/>
              <a:rect r="r" b="b" t="t" l="l"/>
              <a:pathLst>
                <a:path h="860120" w="428912">
                  <a:moveTo>
                    <a:pt x="51869" y="0"/>
                  </a:moveTo>
                  <a:lnTo>
                    <a:pt x="377043" y="0"/>
                  </a:lnTo>
                  <a:cubicBezTo>
                    <a:pt x="390800" y="0"/>
                    <a:pt x="403993" y="5465"/>
                    <a:pt x="413720" y="15192"/>
                  </a:cubicBezTo>
                  <a:cubicBezTo>
                    <a:pt x="423447" y="24919"/>
                    <a:pt x="428912" y="38112"/>
                    <a:pt x="428912" y="51869"/>
                  </a:cubicBezTo>
                  <a:lnTo>
                    <a:pt x="428912" y="808251"/>
                  </a:lnTo>
                  <a:cubicBezTo>
                    <a:pt x="428912" y="822008"/>
                    <a:pt x="423447" y="835201"/>
                    <a:pt x="413720" y="844928"/>
                  </a:cubicBezTo>
                  <a:cubicBezTo>
                    <a:pt x="403993" y="854655"/>
                    <a:pt x="390800" y="860120"/>
                    <a:pt x="377043" y="860120"/>
                  </a:cubicBezTo>
                  <a:lnTo>
                    <a:pt x="51869" y="860120"/>
                  </a:lnTo>
                  <a:cubicBezTo>
                    <a:pt x="23222" y="860120"/>
                    <a:pt x="0" y="836897"/>
                    <a:pt x="0" y="808251"/>
                  </a:cubicBezTo>
                  <a:lnTo>
                    <a:pt x="0" y="51869"/>
                  </a:lnTo>
                  <a:cubicBezTo>
                    <a:pt x="0" y="23222"/>
                    <a:pt x="23222" y="0"/>
                    <a:pt x="51869" y="0"/>
                  </a:cubicBezTo>
                  <a:close/>
                </a:path>
              </a:pathLst>
            </a:custGeom>
            <a:blipFill>
              <a:blip r:embed="rId5"/>
              <a:stretch>
                <a:fillRect l="-2872" t="0" r="-2872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88404" y="7758616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9609" y="-1287529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1557091"/>
            <a:ext cx="13999241" cy="1520165"/>
            <a:chOff x="0" y="0"/>
            <a:chExt cx="18665654" cy="20268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8665654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Gráficos do Melhor Modelo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21706"/>
              <a:ext cx="18665654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2616" y="2512665"/>
            <a:ext cx="17222768" cy="6884353"/>
            <a:chOff x="0" y="0"/>
            <a:chExt cx="2151785" cy="860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1785" cy="860120"/>
            </a:xfrm>
            <a:custGeom>
              <a:avLst/>
              <a:gdLst/>
              <a:ahLst/>
              <a:cxnLst/>
              <a:rect r="r" b="b" t="t" l="l"/>
              <a:pathLst>
                <a:path h="860120" w="2151785">
                  <a:moveTo>
                    <a:pt x="10339" y="0"/>
                  </a:moveTo>
                  <a:lnTo>
                    <a:pt x="2141446" y="0"/>
                  </a:lnTo>
                  <a:cubicBezTo>
                    <a:pt x="2147156" y="0"/>
                    <a:pt x="2151785" y="4629"/>
                    <a:pt x="2151785" y="10339"/>
                  </a:cubicBezTo>
                  <a:lnTo>
                    <a:pt x="2151785" y="849781"/>
                  </a:lnTo>
                  <a:cubicBezTo>
                    <a:pt x="2151785" y="855491"/>
                    <a:pt x="2147156" y="860120"/>
                    <a:pt x="2141446" y="860120"/>
                  </a:cubicBezTo>
                  <a:lnTo>
                    <a:pt x="10339" y="860120"/>
                  </a:lnTo>
                  <a:cubicBezTo>
                    <a:pt x="4629" y="860120"/>
                    <a:pt x="0" y="855491"/>
                    <a:pt x="0" y="849781"/>
                  </a:cubicBezTo>
                  <a:lnTo>
                    <a:pt x="0" y="10339"/>
                  </a:lnTo>
                  <a:cubicBezTo>
                    <a:pt x="0" y="4629"/>
                    <a:pt x="4629" y="0"/>
                    <a:pt x="1033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47" r="0" b="-347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4945" y="8861120"/>
            <a:ext cx="2271679" cy="1967285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88191" y="-973315"/>
            <a:ext cx="3799619" cy="3290488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8781" y="1557091"/>
            <a:ext cx="13999241" cy="1520165"/>
            <a:chOff x="0" y="0"/>
            <a:chExt cx="18665654" cy="20268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8665654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Matriz de Confusão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21706"/>
              <a:ext cx="18665654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96917" y="2317173"/>
            <a:ext cx="9094166" cy="7527590"/>
            <a:chOff x="0" y="0"/>
            <a:chExt cx="1297122" cy="107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7122" cy="1073678"/>
            </a:xfrm>
            <a:custGeom>
              <a:avLst/>
              <a:gdLst/>
              <a:ahLst/>
              <a:cxnLst/>
              <a:rect r="r" b="b" t="t" l="l"/>
              <a:pathLst>
                <a:path h="1073678" w="1297122">
                  <a:moveTo>
                    <a:pt x="19580" y="0"/>
                  </a:moveTo>
                  <a:lnTo>
                    <a:pt x="1277542" y="0"/>
                  </a:lnTo>
                  <a:cubicBezTo>
                    <a:pt x="1288356" y="0"/>
                    <a:pt x="1297122" y="8766"/>
                    <a:pt x="1297122" y="19580"/>
                  </a:cubicBezTo>
                  <a:lnTo>
                    <a:pt x="1297122" y="1054098"/>
                  </a:lnTo>
                  <a:cubicBezTo>
                    <a:pt x="1297122" y="1064911"/>
                    <a:pt x="1288356" y="1073678"/>
                    <a:pt x="1277542" y="1073678"/>
                  </a:cubicBezTo>
                  <a:lnTo>
                    <a:pt x="19580" y="1073678"/>
                  </a:lnTo>
                  <a:cubicBezTo>
                    <a:pt x="8766" y="1073678"/>
                    <a:pt x="0" y="1064911"/>
                    <a:pt x="0" y="1054098"/>
                  </a:cubicBezTo>
                  <a:lnTo>
                    <a:pt x="0" y="19580"/>
                  </a:lnTo>
                  <a:cubicBezTo>
                    <a:pt x="0" y="8766"/>
                    <a:pt x="8766" y="0"/>
                    <a:pt x="19580" y="0"/>
                  </a:cubicBezTo>
                  <a:close/>
                </a:path>
              </a:pathLst>
            </a:custGeom>
            <a:blipFill>
              <a:blip r:embed="rId3"/>
              <a:stretch>
                <a:fillRect l="-311" t="0" r="-311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4945" y="8861120"/>
            <a:ext cx="2271679" cy="1967285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88191" y="-973315"/>
            <a:ext cx="3799619" cy="3290488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8781" y="35771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8781" y="1557091"/>
            <a:ext cx="13999241" cy="1520165"/>
            <a:chOff x="0" y="0"/>
            <a:chExt cx="18665654" cy="20268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8665654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99"/>
                </a:lnSpc>
              </a:pPr>
              <a:r>
                <a:rPr lang="en-US" sz="4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Classification Report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21706"/>
              <a:ext cx="18665654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8265" y="3077255"/>
            <a:ext cx="13311470" cy="5589485"/>
            <a:chOff x="0" y="0"/>
            <a:chExt cx="2556985" cy="107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6985" cy="1073678"/>
            </a:xfrm>
            <a:custGeom>
              <a:avLst/>
              <a:gdLst/>
              <a:ahLst/>
              <a:cxnLst/>
              <a:rect r="r" b="b" t="t" l="l"/>
              <a:pathLst>
                <a:path h="1073678" w="2556985">
                  <a:moveTo>
                    <a:pt x="13377" y="0"/>
                  </a:moveTo>
                  <a:lnTo>
                    <a:pt x="2543609" y="0"/>
                  </a:lnTo>
                  <a:cubicBezTo>
                    <a:pt x="2550996" y="0"/>
                    <a:pt x="2556985" y="5989"/>
                    <a:pt x="2556985" y="13377"/>
                  </a:cubicBezTo>
                  <a:lnTo>
                    <a:pt x="2556985" y="1060301"/>
                  </a:lnTo>
                  <a:cubicBezTo>
                    <a:pt x="2556985" y="1067689"/>
                    <a:pt x="2550996" y="1073678"/>
                    <a:pt x="2543609" y="1073678"/>
                  </a:cubicBezTo>
                  <a:lnTo>
                    <a:pt x="13377" y="1073678"/>
                  </a:lnTo>
                  <a:cubicBezTo>
                    <a:pt x="9829" y="1073678"/>
                    <a:pt x="6427" y="1072268"/>
                    <a:pt x="3918" y="1069760"/>
                  </a:cubicBezTo>
                  <a:cubicBezTo>
                    <a:pt x="1409" y="1067251"/>
                    <a:pt x="0" y="1063849"/>
                    <a:pt x="0" y="1060301"/>
                  </a:cubicBezTo>
                  <a:lnTo>
                    <a:pt x="0" y="13377"/>
                  </a:lnTo>
                  <a:cubicBezTo>
                    <a:pt x="0" y="5989"/>
                    <a:pt x="5989" y="0"/>
                    <a:pt x="13377" y="0"/>
                  </a:cubicBezTo>
                  <a:close/>
                </a:path>
              </a:pathLst>
            </a:custGeom>
            <a:blipFill>
              <a:blip r:embed="rId3"/>
              <a:stretch>
                <a:fillRect l="-293" t="0" r="-293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58087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781" y="2203108"/>
            <a:ext cx="11514164" cy="6454115"/>
            <a:chOff x="0" y="0"/>
            <a:chExt cx="15352218" cy="86054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15352218" cy="747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999"/>
                </a:lnSpc>
              </a:pPr>
              <a:r>
                <a:rPr lang="en-US" sz="4999" b="true">
                  <a:solidFill>
                    <a:srgbClr val="F4F4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Referências Bibliográficas</a:t>
              </a:r>
            </a:p>
            <a:p>
              <a:pPr algn="just">
                <a:lnSpc>
                  <a:spcPts val="3599"/>
                </a:lnSpc>
              </a:pPr>
            </a:p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F4F4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TAN, Mingxing; LE, Quoc V. EfficientNetV2: Smaller Models and Faster Training. International Conference on Machine Learning, 2021. Disponível em: </a:t>
              </a:r>
              <a:r>
                <a:rPr lang="en-US" b="true" sz="3500" u="sng">
                  <a:solidFill>
                    <a:srgbClr val="F4F4F4"/>
                  </a:solidFill>
                  <a:latin typeface="Inter Bold"/>
                  <a:ea typeface="Inter Bold"/>
                  <a:cs typeface="Inter Bold"/>
                  <a:sym typeface="Inter Bold"/>
                  <a:hlinkClick r:id="rId3" tooltip="https://doi.org/10.48550/arXiv.2104.00298"/>
                </a:rPr>
                <a:t>https://doi.org/10.48550/arXiv.2104.00298</a:t>
              </a:r>
              <a:r>
                <a:rPr lang="en-US" sz="3500" b="true">
                  <a:solidFill>
                    <a:srgbClr val="F4F4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. Acesso em: 15 jan. 2025.</a:t>
              </a:r>
            </a:p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F4F4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  <a:p>
              <a:pPr algn="l">
                <a:lnSpc>
                  <a:spcPts val="4799"/>
                </a:lnSpc>
              </a:pPr>
            </a:p>
            <a:p>
              <a:pPr algn="l">
                <a:lnSpc>
                  <a:spcPts val="479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800306"/>
              <a:ext cx="15352218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580875"/>
            <a:ext cx="2864774" cy="1341971"/>
          </a:xfrm>
          <a:custGeom>
            <a:avLst/>
            <a:gdLst/>
            <a:ahLst/>
            <a:cxnLst/>
            <a:rect r="r" b="b" t="t" l="l"/>
            <a:pathLst>
              <a:path h="1341971" w="2864774">
                <a:moveTo>
                  <a:pt x="0" y="0"/>
                </a:moveTo>
                <a:lnTo>
                  <a:pt x="2864774" y="0"/>
                </a:lnTo>
                <a:lnTo>
                  <a:pt x="2864774" y="1341970"/>
                </a:lnTo>
                <a:lnTo>
                  <a:pt x="0" y="134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63966" y="4738687"/>
            <a:ext cx="436006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DAF1vrcL_So</dc:identifier>
  <dcterms:modified xsi:type="dcterms:W3CDTF">2011-08-01T06:04:30Z</dcterms:modified>
  <cp:revision>1</cp:revision>
  <dc:title>EfficientNetV2-B0</dc:title>
</cp:coreProperties>
</file>